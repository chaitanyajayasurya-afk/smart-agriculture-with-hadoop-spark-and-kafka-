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 in one line: a full big data pipeline on a 5-DataNode Hadoop cluster that turns 47 GB of satellite imagery plus weather, soil and live sensor data into crop-stress predictions and live disease alerts, all written in 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stress and disease are found too late. Objectives: store at scale, clean and join with Scala Spark, predict stress at the next satellite pass, stream sensors through Kafka, and prove no leakage. Why big data: the three Vs, with real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Sentinel-2 is the volume. One zip was a byte-identical duplicate, caught by HDFS checksum. ERA5 is 2023 only, by scope decision. The screenshot is the live NameNode page: 5 DataNodes, blocks spread evenly because of replication factor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top to bottom. Lane 1: raw files go into HDFS and three Scala Spark jobs clean them back into HDFS. Lane 2: the processed data is joined into one table, features and a future target are built, models are trained and compared with baselines, then conformal prediction and a decision engine. Lane 3: the live path through Kafka and Spark Structured Streaming. Lane 4: supporting jobs, including the classic MapReduce job. Everything runs on YARN; one command, bash scripts/run_pipeline.sh, runs all 14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screenshot: every row is a stage; Tasks shows partitions processed; Shuffle Read and Write show data moving between executors, which is exactly where stages split. Offer to open the live Spark History Server and the DAG Visualization.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Snippet 1: a Sentinel-2 zip is 1.2 GB; our HdfsSeekableChannel lets each executor read only the 3 bands it needs (2.86 GB of 49.3 GB). Pixels flagged cloud or shadow by the SCL band are skipped. Snippet 2 (simplified): a Kalman step needs the previous step's output, so it cannot be a window function; we repartition by field, sort by date and stream one field at a time in mapPartitions.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 date was 2024-03-18, inside training; the test months were never used to pick the model. Gradient boosting depth 3 with 40 iterations won on validation, so it is the primary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no learned model beat the naive persistence rule on the test months. The model was chosen on a validation date, not on the test, so we report it honestly; validation ROC-AUC 0.894 dropped to 0.675 because of seasonal drift. Streaming and the Kalman filter work well; decisions rank risk correctly. The MapReduce chart shows the seasonal NDVI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 are engineering problems we solved. Limitations are stated openly and each has a fix listed under future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GitHub repository, then switch to the live demo: HDFS at localhost:9870, YARN at localhost:8088, Spark History at localhost:18080, Kafka UI at localhost:8080.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406400" y="190500"/>
            <a:ext cx="11379200" cy="37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6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406400" y="875030"/>
            <a:ext cx="10972800" cy="5170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406400" y="190500"/>
            <a:ext cx="11379200" cy="37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6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406400" y="875030"/>
            <a:ext cx="10972800" cy="5170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chaitanyajayasurya-afk/Smart-Agriculture-with-Hadoop-Spark-and-kafka-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3" name="Shape 1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4" name="Shape 2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5" name="Text 3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1 / 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333500" y="457200"/>
            <a:ext cx="9525000" cy="1993900"/>
          </a:xfrm>
          <a:prstGeom prst="roundRect">
            <a:avLst>
              <a:gd name="adj" fmla="val 5096"/>
            </a:avLst>
          </a:prstGeom>
          <a:solidFill>
            <a:srgbClr val="3B6BC5"/>
          </a:solidFill>
          <a:ln/>
          <a:effectLst>
            <a:outerShdw sx="100000" sy="100000" kx="0" ky="0" algn="bl" rotWithShape="0" blurRad="114300" dist="38100" dir="5400000">
              <a:srgbClr val="1E3A78">
                <a:alpha val="25000"/>
              </a:srgbClr>
            </a:outerShdw>
          </a:effectLst>
        </p:spPr>
      </p:sp>
      <p:sp>
        <p:nvSpPr>
          <p:cNvPr id="9" name="Text 7"/>
          <p:cNvSpPr/>
          <p:nvPr>
            <p:ph type="title"/>
          </p:nvPr>
        </p:nvSpPr>
        <p:spPr>
          <a:xfrm>
            <a:off x="1609217" y="711200"/>
            <a:ext cx="8973566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3450"/>
              </a:lnSpc>
              <a:buNone/>
            </a:pPr>
            <a:r>
              <a:rPr lang="en-US" sz="3000" b="1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Analytics with Scala and Spark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09217" y="1663700"/>
            <a:ext cx="897356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4E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stress prediction and live disease alerts from 47 GB of satellite, weather, soil and IoT data with Hadoop (HDFS, YARN, MapReduce), Spark, Scala, Spark ML and Kafka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02000" y="2679700"/>
            <a:ext cx="34010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Chaitanya Jayasurya J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04000" y="2679700"/>
            <a:ext cx="23545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CB.AI.U4AID24010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02000" y="2946400"/>
            <a:ext cx="34010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Sri Sai Nandini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04000" y="2946400"/>
            <a:ext cx="23545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CB.AI.U4AID24008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302000" y="3213100"/>
            <a:ext cx="34010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Sritha Manasa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04000" y="3213100"/>
            <a:ext cx="23545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CB.AI.U4AID24027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02000" y="3479800"/>
            <a:ext cx="34010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Siva Sashreek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04000" y="3479800"/>
            <a:ext cx="23545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CB.AI.U4AID24054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77740" y="3975100"/>
            <a:ext cx="316372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In Charge: Dr. Sreeja B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9250" y="4279900"/>
            <a:ext cx="311334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23AID302 – Big Data Analytics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58362" y="4584700"/>
            <a:ext cx="20751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5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statement, objectives and why Big Data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2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117600"/>
            <a:ext cx="36277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1020" y="1493520"/>
            <a:ext cx="3536330" cy="2339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stress and fungal disease are noticed too late to act</a:t>
            </a:r>
            <a:endParaRPr lang="en-US" sz="1500" dirty="0"/>
          </a:p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signals exist in satellite images, weather and soil, but in different formats and sizes</a:t>
            </a:r>
            <a:endParaRPr lang="en-US" sz="1500" dirty="0"/>
          </a:p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machine can join 47 GB of imagery with weather and soil field by field, or watch thousands of sensors live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34907" y="1117600"/>
            <a:ext cx="36277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77055" y="1493520"/>
            <a:ext cx="3578002" cy="2597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11852" indent="-211852">
              <a:lnSpc>
                <a:spcPts val="2025"/>
              </a:lnSpc>
              <a:buSzPct val="100000"/>
              <a:buFontTx/>
              <a:buAutoNum type="arabicPeriod" startAt="1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47 GB of raw data on a 5-DataNode Hadoop cluster</a:t>
            </a:r>
            <a:endParaRPr lang="en-US" sz="1500" dirty="0"/>
          </a:p>
          <a:p>
            <a:pPr algn="l" marL="211852" indent="-211852">
              <a:lnSpc>
                <a:spcPts val="2025"/>
              </a:lnSpc>
              <a:buSzPct val="100000"/>
              <a:buFontTx/>
              <a:buAutoNum type="arabicPeriod" startAt="1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and join satellite, weather and soil with Scala Spark jobs</a:t>
            </a:r>
            <a:endParaRPr lang="en-US" sz="1500" dirty="0"/>
          </a:p>
          <a:p>
            <a:pPr algn="l" marL="211852" indent="-211852">
              <a:lnSpc>
                <a:spcPts val="2025"/>
              </a:lnSpc>
              <a:buSzPct val="100000"/>
              <a:buFontTx/>
              <a:buAutoNum type="arabicPeriod" startAt="1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which 1.1 km fields will be stressed at the next satellite pass</a:t>
            </a:r>
            <a:endParaRPr lang="en-US" sz="1500" dirty="0"/>
          </a:p>
          <a:p>
            <a:pPr algn="l" marL="211852" indent="-211852">
              <a:lnSpc>
                <a:spcPts val="2025"/>
              </a:lnSpc>
              <a:buSzPct val="100000"/>
              <a:buFontTx/>
              <a:buAutoNum type="arabicPeriod" startAt="1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live IoT readings through Kafka and raise disease alerts</a:t>
            </a:r>
            <a:endParaRPr lang="en-US" sz="1500" dirty="0"/>
          </a:p>
          <a:p>
            <a:pPr algn="l" marL="211852" indent="-211852">
              <a:lnSpc>
                <a:spcPts val="2025"/>
              </a:lnSpc>
              <a:buSzPct val="100000"/>
              <a:buFontTx/>
              <a:buAutoNum type="arabicPeriod" startAt="1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result is free of data leakage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2614" y="1117600"/>
            <a:ext cx="36277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Big Data is needed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96434" y="1493520"/>
            <a:ext cx="3536330" cy="2597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 GB raw, 141 GB stored with 3 replicas</a:t>
            </a:r>
            <a:endParaRPr lang="en-US" sz="1500" dirty="0"/>
          </a:p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Variety: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JPEG2000 imagery, NetCDF weather, GeoTIFF soil, JSON sensor streams</a:t>
            </a:r>
            <a:endParaRPr lang="en-US" sz="1500" dirty="0"/>
          </a:p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Velocity:</a:t>
            </a: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1,000 sensor readings per second</a:t>
            </a:r>
            <a:endParaRPr lang="en-US" sz="1500" dirty="0"/>
          </a:p>
          <a:p>
            <a:pPr algn="l" marL="170180" indent="-170180">
              <a:lnSpc>
                <a:spcPts val="2025"/>
              </a:lnSpc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distributed storage (HDFS) and parallel processing (Spark, MapReduce on YARN)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source, size, the 5 V’s and key attributes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3 / 10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7360" y="1026160"/>
          <a:ext cx="11267440" cy="2141220"/>
        </p:xfrm>
        <a:graphic>
          <a:graphicData uri="http://schemas.openxmlformats.org/drawingml/2006/table">
            <a:tbl>
              <a:tblPr/>
              <a:tblGrid>
                <a:gridCol w="2253488"/>
                <a:gridCol w="2478837"/>
                <a:gridCol w="2478837"/>
                <a:gridCol w="4056278"/>
              </a:tblGrid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Sentinel-2 L2A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ESA Copernicus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 zips, 47.0 GB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Red, NIR, cloud mask → NDVI per field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ERA5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ECMWF (CDS)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NetCDF4, 29,565 rows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weather 2023, 81 grid points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SoilGrids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GeoTIFFs, 4.1 MB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pH, nitrogen, carbon, texture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IoT sensors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Simulated (Kafka)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110,000 messages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disease and water-stress alerts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dataset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Scala ETL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393,340 rows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19,916 fields × 40 dates; every model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4482" y="3294380"/>
            <a:ext cx="6278626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2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 GB in HDFS, 409 blocks, fsck HEALTHY</a:t>
            </a:r>
            <a:endParaRPr lang="en-US" sz="1400" dirty="0"/>
          </a:p>
          <a:p>
            <a:pPr algn="l" marL="156718" indent="-156718">
              <a:lnSpc>
                <a:spcPts val="182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Variety: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JPEG2000, NetCDF4, GeoTIFF, JSON</a:t>
            </a:r>
            <a:endParaRPr lang="en-US" sz="1400" dirty="0"/>
          </a:p>
          <a:p>
            <a:pPr algn="l" marL="156718" indent="-156718">
              <a:lnSpc>
                <a:spcPts val="182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Velocity: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200 fields × 5 sensors, 1 reading/s each</a:t>
            </a:r>
            <a:endParaRPr lang="en-US" sz="1400" dirty="0"/>
          </a:p>
          <a:p>
            <a:pPr algn="l" marL="156718" indent="-156718">
              <a:lnSpc>
                <a:spcPts val="182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Veracity: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duplicate zip dropped by checksum; clouds masked; nodata gap-filled</a:t>
            </a:r>
            <a:endParaRPr lang="en-US" sz="1400" dirty="0"/>
          </a:p>
          <a:p>
            <a:pPr algn="l" marL="156718" indent="-156718">
              <a:lnSpc>
                <a:spcPts val="182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next-pass stress prediction and live disease alerts for 19,916 fields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757420"/>
            <a:ext cx="63835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attributes:</a:t>
            </a:r>
            <a:r>
              <a:rPr lang="en-US" sz="1300" dirty="0">
                <a:solidFill>
                  <a:srgbClr val="3D3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tile, cell_row, cell_col, date, lat, lon, NDVI, cloud fraction, soil water, temperature, rain, pH, clay, sand</a:t>
            </a:r>
            <a:endParaRPr lang="en-US" sz="1300" dirty="0"/>
          </a:p>
        </p:txBody>
      </p:sp>
      <p:pic>
        <p:nvPicPr>
          <p:cNvPr id="13" name="Image 0" descr="HDFS NameNode UI: 5 DataNodes in operation, about 1,500 blocks each">    </p:cNvPr>
          <p:cNvPicPr>
            <a:picLocks noChangeAspect="1"/>
          </p:cNvPicPr>
          <p:nvPr/>
        </p:nvPicPr>
        <p:blipFill>
          <a:blip r:embed="rId1"/>
          <a:srcRect l="-393" r="-393" t="0" b="0"/>
          <a:stretch/>
        </p:blipFill>
        <p:spPr>
          <a:xfrm>
            <a:off x="6915150" y="3300730"/>
            <a:ext cx="4813300" cy="2641600"/>
          </a:xfrm>
          <a:prstGeom prst="roundRect">
            <a:avLst>
              <a:gd name="adj" fmla="val 1683"/>
            </a:avLst>
          </a:prstGeom>
        </p:spPr>
      </p:pic>
      <p:sp>
        <p:nvSpPr>
          <p:cNvPr id="14" name="Shape 10"/>
          <p:cNvSpPr/>
          <p:nvPr/>
        </p:nvSpPr>
        <p:spPr>
          <a:xfrm>
            <a:off x="6911975" y="3297555"/>
            <a:ext cx="4819650" cy="2647950"/>
          </a:xfrm>
          <a:prstGeom prst="roundRect">
            <a:avLst>
              <a:gd name="adj" fmla="val 1799"/>
            </a:avLst>
          </a:prstGeom>
          <a:noFill/>
          <a:ln w="6350">
            <a:solidFill>
              <a:srgbClr val="C9D3E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and system architecture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4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5600" y="914400"/>
            <a:ext cx="118252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5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INGESTION + PREPROCESSING (batch, Spark on YARN)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1950" y="1223011"/>
            <a:ext cx="2363152" cy="830580"/>
          </a:xfrm>
          <a:prstGeom prst="roundRect">
            <a:avLst>
              <a:gd name="adj" fmla="val 6881"/>
            </a:avLst>
          </a:prstGeom>
          <a:solidFill>
            <a:srgbClr val="E8EFFA"/>
          </a:solidFill>
          <a:ln w="12700">
            <a:solidFill>
              <a:srgbClr val="3B6BC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360" y="1303020"/>
            <a:ext cx="221690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sources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7360" y="1546861"/>
            <a:ext cx="2216903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Sentinel-2 47 GB, ERA5, SoilGrids</a:t>
            </a:r>
            <a:endParaRPr lang="en-US" sz="1200" dirty="0"/>
          </a:p>
        </p:txBody>
      </p:sp>
      <p:pic>
        <p:nvPicPr>
          <p:cNvPr id="14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31452" y="1216661"/>
            <a:ext cx="228600" cy="762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966402" y="1223011"/>
            <a:ext cx="2363232" cy="830580"/>
          </a:xfrm>
          <a:prstGeom prst="roundRect">
            <a:avLst>
              <a:gd name="adj" fmla="val 6881"/>
            </a:avLst>
          </a:prstGeom>
          <a:solidFill>
            <a:srgbClr val="E8EFFA"/>
          </a:solidFill>
          <a:ln w="12700">
            <a:solidFill>
              <a:srgbClr val="3B6BC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71813" y="1303020"/>
            <a:ext cx="221698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raw zone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071813" y="1546861"/>
            <a:ext cx="221698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DataNodes, rf 3, 128 MB blocks</a:t>
            </a:r>
            <a:endParaRPr lang="en-US" sz="1200" dirty="0"/>
          </a:p>
        </p:txBody>
      </p:sp>
      <p:pic>
        <p:nvPicPr>
          <p:cNvPr id="18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5984" y="1216661"/>
            <a:ext cx="228600" cy="762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570934" y="1223011"/>
            <a:ext cx="3654584" cy="830580"/>
          </a:xfrm>
          <a:prstGeom prst="roundRect">
            <a:avLst>
              <a:gd name="adj" fmla="val 6881"/>
            </a:avLst>
          </a:prstGeom>
          <a:solidFill>
            <a:srgbClr val="E8EFFA"/>
          </a:solidFill>
          <a:ln w="12700">
            <a:solidFill>
              <a:srgbClr val="3B6BC5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76345" y="1303020"/>
            <a:ext cx="354707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Scala Spark jobs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676345" y="1546861"/>
            <a:ext cx="3547077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Sentinel: cloud mask, NDVI, 1.1 km grid · ERA5: daily, °C, RH · Soil: resample, gap-fill</a:t>
            </a:r>
            <a:endParaRPr lang="en-US" sz="1200" dirty="0"/>
          </a:p>
        </p:txBody>
      </p:sp>
      <p:pic>
        <p:nvPicPr>
          <p:cNvPr id="22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231868" y="1216661"/>
            <a:ext cx="228600" cy="762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466818" y="1223011"/>
            <a:ext cx="2363232" cy="830580"/>
          </a:xfrm>
          <a:prstGeom prst="roundRect">
            <a:avLst>
              <a:gd name="adj" fmla="val 6881"/>
            </a:avLst>
          </a:prstGeom>
          <a:solidFill>
            <a:srgbClr val="E8EFFA"/>
          </a:solidFill>
          <a:ln w="12700">
            <a:solidFill>
              <a:srgbClr val="3B6BC5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572228" y="1303020"/>
            <a:ext cx="221698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processed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9572228" y="1546861"/>
            <a:ext cx="221698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Parquet, partitioned by tile / date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355600" y="2148841"/>
            <a:ext cx="118252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C26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INTEGRATION + MACHINE LEARNING (reads HDFS processed)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361950" y="2457450"/>
            <a:ext cx="2100580" cy="830580"/>
          </a:xfrm>
          <a:prstGeom prst="roundRect">
            <a:avLst>
              <a:gd name="adj" fmla="val 6881"/>
            </a:avLst>
          </a:prstGeom>
          <a:solidFill>
            <a:srgbClr val="FDF0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67360" y="2537461"/>
            <a:ext cx="194645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join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67360" y="2781300"/>
            <a:ext cx="1946453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393,340 rows; nearest ERA5, 1:1 soil</a:t>
            </a:r>
            <a:endParaRPr lang="en-US" sz="1200" dirty="0"/>
          </a:p>
        </p:txBody>
      </p:sp>
      <p:pic>
        <p:nvPicPr>
          <p:cNvPr id="30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468880" y="2451100"/>
            <a:ext cx="228600" cy="762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2703830" y="2457450"/>
            <a:ext cx="2100580" cy="830580"/>
          </a:xfrm>
          <a:prstGeom prst="roundRect">
            <a:avLst>
              <a:gd name="adj" fmla="val 6881"/>
            </a:avLst>
          </a:prstGeom>
          <a:solidFill>
            <a:srgbClr val="FDF0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809240" y="2537461"/>
            <a:ext cx="194645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2809240" y="2781300"/>
            <a:ext cx="1946453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lags, rolling stats, T+1 target, date split</a:t>
            </a:r>
            <a:endParaRPr lang="en-US" sz="1200" dirty="0"/>
          </a:p>
        </p:txBody>
      </p:sp>
      <p:pic>
        <p:nvPicPr>
          <p:cNvPr id="34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810760" y="2451100"/>
            <a:ext cx="228600" cy="7620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5045710" y="2457450"/>
            <a:ext cx="2100580" cy="830580"/>
          </a:xfrm>
          <a:prstGeom prst="roundRect">
            <a:avLst>
              <a:gd name="adj" fmla="val 6881"/>
            </a:avLst>
          </a:prstGeom>
          <a:solidFill>
            <a:srgbClr val="FDF0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151120" y="2537461"/>
            <a:ext cx="194645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MLlib</a:t>
            </a:r>
            <a:endParaRPr lang="en-US" sz="1300" dirty="0"/>
          </a:p>
        </p:txBody>
      </p:sp>
      <p:sp>
        <p:nvSpPr>
          <p:cNvPr id="37" name="Text 30"/>
          <p:cNvSpPr/>
          <p:nvPr/>
        </p:nvSpPr>
        <p:spPr>
          <a:xfrm>
            <a:off x="5151120" y="2781300"/>
            <a:ext cx="1946453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GBT, RF, LR vs naive baseline</a:t>
            </a:r>
            <a:endParaRPr lang="en-US" sz="1200" dirty="0"/>
          </a:p>
        </p:txBody>
      </p:sp>
      <p:pic>
        <p:nvPicPr>
          <p:cNvPr id="38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152640" y="2451100"/>
            <a:ext cx="228600" cy="76200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387590" y="2457450"/>
            <a:ext cx="2100580" cy="830580"/>
          </a:xfrm>
          <a:prstGeom prst="roundRect">
            <a:avLst>
              <a:gd name="adj" fmla="val 6881"/>
            </a:avLst>
          </a:prstGeom>
          <a:solidFill>
            <a:srgbClr val="FDF0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493000" y="2537461"/>
            <a:ext cx="194645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Conformal + decisions</a:t>
            </a:r>
            <a:endParaRPr lang="en-US" sz="1300" dirty="0"/>
          </a:p>
        </p:txBody>
      </p:sp>
      <p:sp>
        <p:nvSpPr>
          <p:cNvPr id="41" name="Text 33"/>
          <p:cNvSpPr/>
          <p:nvPr/>
        </p:nvSpPr>
        <p:spPr>
          <a:xfrm>
            <a:off x="7493000" y="2781300"/>
            <a:ext cx="19464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0.10; 3 action levels</a:t>
            </a:r>
            <a:endParaRPr lang="en-US" sz="1200" dirty="0"/>
          </a:p>
        </p:txBody>
      </p:sp>
      <p:pic>
        <p:nvPicPr>
          <p:cNvPr id="42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494520" y="2451100"/>
            <a:ext cx="228600" cy="76200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9729470" y="2457450"/>
            <a:ext cx="2100580" cy="830580"/>
          </a:xfrm>
          <a:prstGeom prst="roundRect">
            <a:avLst>
              <a:gd name="adj" fmla="val 6881"/>
            </a:avLst>
          </a:prstGeom>
          <a:solidFill>
            <a:srgbClr val="FDF0E3"/>
          </a:solidFill>
          <a:ln w="12700">
            <a:solidFill>
              <a:srgbClr val="D9822B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9834880" y="2537461"/>
            <a:ext cx="194645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300" dirty="0"/>
          </a:p>
        </p:txBody>
      </p:sp>
      <p:sp>
        <p:nvSpPr>
          <p:cNvPr id="45" name="Text 36"/>
          <p:cNvSpPr/>
          <p:nvPr/>
        </p:nvSpPr>
        <p:spPr>
          <a:xfrm>
            <a:off x="9834880" y="2781300"/>
            <a:ext cx="19464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results/, dashboard</a:t>
            </a:r>
            <a:endParaRPr lang="en-US" sz="1200" dirty="0"/>
          </a:p>
        </p:txBody>
      </p:sp>
      <p:sp>
        <p:nvSpPr>
          <p:cNvPr id="46" name="Text 37"/>
          <p:cNvSpPr/>
          <p:nvPr/>
        </p:nvSpPr>
        <p:spPr>
          <a:xfrm>
            <a:off x="355600" y="3383280"/>
            <a:ext cx="118252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7A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REAL-TIME STREAMING (Kafka + Spark Structured Streaming)</a:t>
            </a:r>
            <a:endParaRPr lang="en-US" sz="1200" dirty="0"/>
          </a:p>
        </p:txBody>
      </p:sp>
      <p:sp>
        <p:nvSpPr>
          <p:cNvPr id="47" name="Shape 38"/>
          <p:cNvSpPr/>
          <p:nvPr/>
        </p:nvSpPr>
        <p:spPr>
          <a:xfrm>
            <a:off x="361950" y="3691891"/>
            <a:ext cx="2363152" cy="830580"/>
          </a:xfrm>
          <a:prstGeom prst="roundRect">
            <a:avLst>
              <a:gd name="adj" fmla="val 6881"/>
            </a:avLst>
          </a:prstGeom>
          <a:solidFill>
            <a:srgbClr val="E3F4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8" name="Text 39"/>
          <p:cNvSpPr/>
          <p:nvPr/>
        </p:nvSpPr>
        <p:spPr>
          <a:xfrm>
            <a:off x="467360" y="3771900"/>
            <a:ext cx="221690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simulator</a:t>
            </a:r>
            <a:endParaRPr lang="en-US" sz="1300" dirty="0"/>
          </a:p>
        </p:txBody>
      </p:sp>
      <p:sp>
        <p:nvSpPr>
          <p:cNvPr id="49" name="Text 40"/>
          <p:cNvSpPr/>
          <p:nvPr/>
        </p:nvSpPr>
        <p:spPr>
          <a:xfrm>
            <a:off x="467360" y="4015741"/>
            <a:ext cx="221690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fields × 5 sensors, 1/s</a:t>
            </a:r>
            <a:endParaRPr lang="en-US" sz="1200" dirty="0"/>
          </a:p>
        </p:txBody>
      </p:sp>
      <p:pic>
        <p:nvPicPr>
          <p:cNvPr id="50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731452" y="3685541"/>
            <a:ext cx="228600" cy="76200"/>
          </a:xfrm>
          <a:prstGeom prst="rect">
            <a:avLst/>
          </a:prstGeom>
        </p:spPr>
      </p:pic>
      <p:sp>
        <p:nvSpPr>
          <p:cNvPr id="51" name="Shape 41"/>
          <p:cNvSpPr/>
          <p:nvPr/>
        </p:nvSpPr>
        <p:spPr>
          <a:xfrm>
            <a:off x="2966402" y="3691891"/>
            <a:ext cx="2363232" cy="830580"/>
          </a:xfrm>
          <a:prstGeom prst="roundRect">
            <a:avLst>
              <a:gd name="adj" fmla="val 6881"/>
            </a:avLst>
          </a:prstGeom>
          <a:solidFill>
            <a:srgbClr val="E3F4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2" name="Text 42"/>
          <p:cNvSpPr/>
          <p:nvPr/>
        </p:nvSpPr>
        <p:spPr>
          <a:xfrm>
            <a:off x="3071813" y="3771900"/>
            <a:ext cx="221698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topic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3071813" y="4015741"/>
            <a:ext cx="2216984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iot_sensor_readings, 6 partitions</a:t>
            </a:r>
            <a:endParaRPr lang="en-US" sz="1200" dirty="0"/>
          </a:p>
        </p:txBody>
      </p:sp>
      <p:pic>
        <p:nvPicPr>
          <p:cNvPr id="54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335984" y="3685541"/>
            <a:ext cx="228600" cy="76200"/>
          </a:xfrm>
          <a:prstGeom prst="rect">
            <a:avLst/>
          </a:prstGeom>
        </p:spPr>
      </p:pic>
      <p:sp>
        <p:nvSpPr>
          <p:cNvPr id="55" name="Shape 44"/>
          <p:cNvSpPr/>
          <p:nvPr/>
        </p:nvSpPr>
        <p:spPr>
          <a:xfrm>
            <a:off x="5570934" y="3691891"/>
            <a:ext cx="3654584" cy="830580"/>
          </a:xfrm>
          <a:prstGeom prst="roundRect">
            <a:avLst>
              <a:gd name="adj" fmla="val 6881"/>
            </a:avLst>
          </a:prstGeom>
          <a:solidFill>
            <a:srgbClr val="E3F4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6" name="Text 45"/>
          <p:cNvSpPr/>
          <p:nvPr/>
        </p:nvSpPr>
        <p:spPr>
          <a:xfrm>
            <a:off x="5676345" y="3771900"/>
            <a:ext cx="3547077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Streaming, every 10 s</a:t>
            </a:r>
            <a:endParaRPr lang="en-US" sz="1300" dirty="0"/>
          </a:p>
        </p:txBody>
      </p:sp>
      <p:sp>
        <p:nvSpPr>
          <p:cNvPr id="57" name="Text 46"/>
          <p:cNvSpPr/>
          <p:nvPr/>
        </p:nvSpPr>
        <p:spPr>
          <a:xfrm>
            <a:off x="5676345" y="4015741"/>
            <a:ext cx="3547077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per-sensor adaptive Kalman state + soil + satellite context → risk rules</a:t>
            </a:r>
            <a:endParaRPr lang="en-US" sz="1200" dirty="0"/>
          </a:p>
        </p:txBody>
      </p:sp>
      <p:pic>
        <p:nvPicPr>
          <p:cNvPr id="58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9231868" y="3685541"/>
            <a:ext cx="228600" cy="76200"/>
          </a:xfrm>
          <a:prstGeom prst="rect">
            <a:avLst/>
          </a:prstGeom>
        </p:spPr>
      </p:pic>
      <p:sp>
        <p:nvSpPr>
          <p:cNvPr id="59" name="Shape 47"/>
          <p:cNvSpPr/>
          <p:nvPr/>
        </p:nvSpPr>
        <p:spPr>
          <a:xfrm>
            <a:off x="9466818" y="3691891"/>
            <a:ext cx="2363232" cy="830580"/>
          </a:xfrm>
          <a:prstGeom prst="roundRect">
            <a:avLst>
              <a:gd name="adj" fmla="val 6881"/>
            </a:avLst>
          </a:prstGeom>
          <a:solidFill>
            <a:srgbClr val="E3F4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0" name="Text 48"/>
          <p:cNvSpPr/>
          <p:nvPr/>
        </p:nvSpPr>
        <p:spPr>
          <a:xfrm>
            <a:off x="9572228" y="3771900"/>
            <a:ext cx="2216984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out</a:t>
            </a:r>
            <a:endParaRPr lang="en-US" sz="1300" dirty="0"/>
          </a:p>
        </p:txBody>
      </p:sp>
      <p:sp>
        <p:nvSpPr>
          <p:cNvPr id="61" name="Text 49"/>
          <p:cNvSpPr/>
          <p:nvPr/>
        </p:nvSpPr>
        <p:spPr>
          <a:xfrm>
            <a:off x="9572228" y="4015741"/>
            <a:ext cx="221698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crop_alerts + HDFS</a:t>
            </a:r>
            <a:endParaRPr lang="en-US" sz="1200" dirty="0"/>
          </a:p>
        </p:txBody>
      </p:sp>
      <p:sp>
        <p:nvSpPr>
          <p:cNvPr id="62" name="Text 50"/>
          <p:cNvSpPr/>
          <p:nvPr/>
        </p:nvSpPr>
        <p:spPr>
          <a:xfrm>
            <a:off x="355600" y="4617720"/>
            <a:ext cx="1182522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SUPPORTING JOBS</a:t>
            </a:r>
            <a:endParaRPr lang="en-US" sz="1200" dirty="0"/>
          </a:p>
        </p:txBody>
      </p:sp>
      <p:sp>
        <p:nvSpPr>
          <p:cNvPr id="63" name="Text 51"/>
          <p:cNvSpPr/>
          <p:nvPr/>
        </p:nvSpPr>
        <p:spPr>
          <a:xfrm>
            <a:off x="361950" y="4926330"/>
            <a:ext cx="3712607" cy="561340"/>
          </a:xfrm>
          <a:prstGeom prst="roundRect">
            <a:avLst>
              <a:gd name="adj" fmla="val 10181"/>
            </a:avLst>
          </a:prstGeom>
          <a:solidFill>
            <a:srgbClr val="F1F1F1"/>
          </a:solidFill>
          <a:ln w="12700">
            <a:solidFill>
              <a:srgbClr val="9A9A9A"/>
            </a:solidFill>
            <a:prstDash val="solid"/>
          </a:ln>
        </p:spPr>
        <p:txBody>
          <a:bodyPr wrap="square" lIns="88671" tIns="50571" rIns="0" bIns="25171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Hadoop MapReduce:</a:t>
            </a: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 NDVI per tile per month</a:t>
            </a:r>
            <a:endParaRPr lang="en-US" sz="1200" dirty="0"/>
          </a:p>
        </p:txBody>
      </p:sp>
      <p:sp>
        <p:nvSpPr>
          <p:cNvPr id="64" name="Text 52"/>
          <p:cNvSpPr/>
          <p:nvPr/>
        </p:nvSpPr>
        <p:spPr>
          <a:xfrm>
            <a:off x="4239657" y="4926330"/>
            <a:ext cx="3712686" cy="561340"/>
          </a:xfrm>
          <a:prstGeom prst="roundRect">
            <a:avLst>
              <a:gd name="adj" fmla="val 10181"/>
            </a:avLst>
          </a:prstGeom>
          <a:solidFill>
            <a:srgbClr val="F1F1F1"/>
          </a:solidFill>
          <a:ln w="12700">
            <a:solidFill>
              <a:srgbClr val="9A9A9A"/>
            </a:solidFill>
            <a:prstDash val="solid"/>
          </a:ln>
        </p:spPr>
        <p:txBody>
          <a:bodyPr wrap="square" lIns="88671" tIns="50571" rIns="0" bIns="50571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Kalman experiment:</a:t>
            </a: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2,000 series × 11 scenarios</a:t>
            </a:r>
            <a:endParaRPr lang="en-US" sz="1200" dirty="0"/>
          </a:p>
        </p:txBody>
      </p:sp>
      <p:sp>
        <p:nvSpPr>
          <p:cNvPr id="65" name="Text 53"/>
          <p:cNvSpPr/>
          <p:nvPr/>
        </p:nvSpPr>
        <p:spPr>
          <a:xfrm>
            <a:off x="8117443" y="4926330"/>
            <a:ext cx="3712607" cy="561340"/>
          </a:xfrm>
          <a:prstGeom prst="roundRect">
            <a:avLst>
              <a:gd name="adj" fmla="val 10181"/>
            </a:avLst>
          </a:prstGeom>
          <a:solidFill>
            <a:srgbClr val="F1F1F1"/>
          </a:solidFill>
          <a:ln w="12700">
            <a:solidFill>
              <a:srgbClr val="9A9A9A"/>
            </a:solidFill>
            <a:prstDash val="solid"/>
          </a:ln>
        </p:spPr>
        <p:txBody>
          <a:bodyPr wrap="square" lIns="88671" tIns="50571" rIns="0" bIns="50571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audit:</a:t>
            </a: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automated checks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workflow: RDD / DataFrame operations, DAG, partitioning, caching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5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4063" y="1016000"/>
            <a:ext cx="5467223" cy="2967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RDD API: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parallelize(40 products), map(decode), mapPartitions for the sequential Kalman filter</a:t>
            </a:r>
            <a:endParaRPr lang="en-US" sz="1350" dirty="0"/>
          </a:p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DataFrame API: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select, filter, groupBy + agg, join, pivot, window functions (lag, lead, rolling); optimised by Catalyst</a:t>
            </a:r>
            <a:endParaRPr lang="en-US" sz="1350" dirty="0"/>
          </a:p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transformations build a plan; actions (count, write, show) start a </a:t>
            </a: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350" dirty="0"/>
          </a:p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job is split into </a:t>
            </a: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stages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every shuffle; 10 apps, 674 jobs, 866 stages, ~9,100 tasks</a:t>
            </a:r>
            <a:endParaRPr lang="en-US" sz="1350" dirty="0"/>
          </a:p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Partitioning: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partitions for Sentinel decoding; 64 shuffle partitions + AQE; repartition by field; HDFS partitionBy tile / date</a:t>
            </a:r>
            <a:endParaRPr lang="en-US" sz="1350" dirty="0"/>
          </a:p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Caching: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persist(MEMORY_AND_DISK) the decoded products (reused by 2 actions); broadcast ERA5 grid and soil rasters</a:t>
            </a:r>
            <a:endParaRPr lang="en-US" sz="1350" dirty="0"/>
          </a:p>
          <a:p>
            <a:pPr algn="l" marL="156337" indent="-156337">
              <a:lnSpc>
                <a:spcPts val="1782"/>
              </a:lnSpc>
              <a:buSzPct val="100000"/>
              <a:buChar char="•"/>
            </a:pPr>
            <a:r>
              <a:rPr lang="en-US" sz="135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Executors:</a:t>
            </a:r>
            <a:r>
              <a:rPr lang="en-US" sz="135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per job on 2 YARN NodeManagers</a:t>
            </a:r>
            <a:endParaRPr lang="en-US" sz="1350" dirty="0"/>
          </a:p>
        </p:txBody>
      </p:sp>
      <p:pic>
        <p:nvPicPr>
          <p:cNvPr id="11" name="Image 0" descr="Spark UI Stages for All Jobs: completed stages with tasks, input, shuffle read and shuffle write">    </p:cNvPr>
          <p:cNvPicPr>
            <a:picLocks noChangeAspect="1"/>
          </p:cNvPicPr>
          <p:nvPr/>
        </p:nvPicPr>
        <p:blipFill>
          <a:blip r:embed="rId1"/>
          <a:srcRect l="0" r="0" t="-83" b="-83"/>
          <a:stretch/>
        </p:blipFill>
        <p:spPr>
          <a:xfrm>
            <a:off x="6076950" y="1022350"/>
            <a:ext cx="5702300" cy="2813050"/>
          </a:xfrm>
          <a:prstGeom prst="roundRect">
            <a:avLst>
              <a:gd name="adj" fmla="val 1129"/>
            </a:avLst>
          </a:prstGeom>
        </p:spPr>
      </p:pic>
      <p:sp>
        <p:nvSpPr>
          <p:cNvPr id="12" name="Shape 9"/>
          <p:cNvSpPr/>
          <p:nvPr/>
        </p:nvSpPr>
        <p:spPr>
          <a:xfrm>
            <a:off x="6073775" y="1019175"/>
            <a:ext cx="5708650" cy="2819400"/>
          </a:xfrm>
          <a:prstGeom prst="roundRect">
            <a:avLst>
              <a:gd name="adj" fmla="val 1239"/>
            </a:avLst>
          </a:prstGeom>
          <a:noFill/>
          <a:ln w="6350">
            <a:solidFill>
              <a:srgbClr val="C9D3E6"/>
            </a:solidFill>
            <a:prstDash val="solid"/>
          </a:ln>
        </p:spPr>
      </p:sp>
      <p:pic>
        <p:nvPicPr>
          <p:cNvPr id="13" name="Image 1" descr="Spark UI Jobs page: 17 completed jobs with stages and tasks per job">    </p:cNvPr>
          <p:cNvPicPr>
            <a:picLocks noChangeAspect="1"/>
          </p:cNvPicPr>
          <p:nvPr/>
        </p:nvPicPr>
        <p:blipFill>
          <a:blip r:embed="rId2"/>
          <a:srcRect l="-217" r="-217" t="0" b="0"/>
          <a:stretch/>
        </p:blipFill>
        <p:spPr>
          <a:xfrm>
            <a:off x="6076950" y="3924300"/>
            <a:ext cx="5702300" cy="1689100"/>
          </a:xfrm>
          <a:prstGeom prst="roundRect">
            <a:avLst>
              <a:gd name="adj" fmla="val 1880"/>
            </a:avLst>
          </a:prstGeom>
        </p:spPr>
      </p:pic>
      <p:sp>
        <p:nvSpPr>
          <p:cNvPr id="14" name="Shape 10"/>
          <p:cNvSpPr/>
          <p:nvPr/>
        </p:nvSpPr>
        <p:spPr>
          <a:xfrm>
            <a:off x="6073775" y="3921125"/>
            <a:ext cx="5708650" cy="1695450"/>
          </a:xfrm>
          <a:prstGeom prst="roundRect">
            <a:avLst>
              <a:gd name="adj" fmla="val 2060"/>
            </a:avLst>
          </a:prstGeom>
          <a:noFill/>
          <a:ln w="6350">
            <a:solidFill>
              <a:srgbClr val="C9D3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070600" y="5695950"/>
            <a:ext cx="588645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History Server (localhost:18080): stages with shuffle read/write, and jobs with stages and tasks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 implementation: key code and project structure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6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400" y="990600"/>
            <a:ext cx="719455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Cloud-masked NDVI per field (Sentinel2Preprocess.scala)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400" y="1297939"/>
            <a:ext cx="6985000" cy="169672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62560" tIns="101600" rIns="0" bIns="762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val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zip = </a:t>
            </a:r>
            <a:r>
              <a:rPr lang="en-US" sz="1200" dirty="0">
                <a:solidFill>
                  <a:srgbClr val="1F4F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new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ZipFile(</a:t>
            </a:r>
            <a:r>
              <a:rPr lang="en-US" sz="1200" dirty="0">
                <a:solidFill>
                  <a:srgbClr val="1F4F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new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HdfsSeekableChannel(fs.open(p), size))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val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red = Jp2Decoder.decode(entryBytes(zip, 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"_B04_20m.jp2"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// ... same for B8A (NIR) and SCL (cloud mask)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F4F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if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(SceneClass.isClearLand(scl)) {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r>
              <a:rPr lang="en-US" sz="1200" dirty="0">
                <a:solidFill>
                  <a:srgbClr val="1F4FB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val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 ndvi = (nir - red) / (nir + red)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sum(cell) += ndvi; clear(cell) += </a:t>
            </a:r>
            <a:r>
              <a:rPr lang="en-US" sz="1200" dirty="0">
                <a:solidFill>
                  <a:srgbClr val="B5480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450" y="1297939"/>
            <a:ext cx="0" cy="1696720"/>
          </a:xfrm>
          <a:prstGeom prst="line">
            <a:avLst/>
          </a:prstGeom>
          <a:noFill/>
          <a:ln w="38100">
            <a:solidFill>
              <a:srgbClr val="3B6BC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400" y="3070861"/>
            <a:ext cx="719455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Kalman filter on Spark (KalmanFusionPipeline.scala, simplified)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400" y="3378200"/>
            <a:ext cx="6985000" cy="12700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62560" tIns="101600" rIns="0" bIns="762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obs.repartition($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"tile"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$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"cell_row"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$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"cell_col"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.sortWithinPartitions(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"tile"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"cell_row"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"cell_col"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, </a:t>
            </a:r>
            <a:r>
              <a:rPr lang="en-US" sz="1200" dirty="0">
                <a:solidFill>
                  <a:srgbClr val="2E7D32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"date"</a:t>
            </a: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)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.rdd.mapPartitions { rows =&gt;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cellByCell(rows).flatMap(runCellSequential) </a:t>
            </a:r>
            <a:r>
              <a:rPr lang="en-US" sz="1200" dirty="0">
                <a:solidFill>
                  <a:srgbClr val="7A7A7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// 1 field in memory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450" y="3378200"/>
            <a:ext cx="0" cy="1270000"/>
          </a:xfrm>
          <a:prstGeom prst="line">
            <a:avLst/>
          </a:prstGeom>
          <a:noFill/>
          <a:ln w="38100">
            <a:solidFill>
              <a:srgbClr val="3B6BC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45400" y="990600"/>
            <a:ext cx="42644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structure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45400" y="1308100"/>
            <a:ext cx="4264406" cy="2014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smartagri/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preprocess/  HDFS → HDFS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canonical/   join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mapreduce/   MR job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features/    target, split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kalman/      filter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ml/          MLlib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streaming/   Kafka</a:t>
            </a:r>
            <a:endParaRPr lang="en-US" sz="1200" dirty="0"/>
          </a:p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audit/       leakage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43444" y="3385821"/>
            <a:ext cx="4158742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5956" indent="-155956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Scala files, 246 unit tests</a:t>
            </a:r>
            <a:endParaRPr lang="en-US" sz="1300" dirty="0"/>
          </a:p>
          <a:p>
            <a:pPr algn="l" marL="155956" indent="-155956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sbt assembly → 1 jar → spark-submit --master yarn</a:t>
            </a:r>
            <a:endParaRPr lang="en-US" sz="1300" dirty="0"/>
          </a:p>
          <a:p>
            <a:pPr algn="l" marL="155956" indent="-155956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run_pipeline.sh: 14 stages, 1 command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ML pipeline: features, algorithms, tuning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7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066800"/>
            <a:ext cx="56248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and features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54482" y="1399539"/>
            <a:ext cx="5519928" cy="1465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field stressed at the </a:t>
            </a: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satellite pass (NDVI more than 1 std below its own history), from data up to now only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(19):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NDVI, lag, change, rolling mean/std, frozen baseline, soil, season, current anomaly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by date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2024-04-07: 105,848 train, 48,747 test rows; never random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928621"/>
            <a:ext cx="56248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Algorithms (Spark MLlib)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4482" y="3261361"/>
            <a:ext cx="5519928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VectorAssembler → GBTClassifier / RandomForestClassifier / LogisticRegression, class-weighted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on identical rows: naive “stressed now → next”, majority class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73800" y="1066800"/>
            <a:ext cx="56248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(on a validation date inside training)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83960" y="1409699"/>
          <a:ext cx="5450840" cy="2372360"/>
        </p:xfrm>
        <a:graphic>
          <a:graphicData uri="http://schemas.openxmlformats.org/drawingml/2006/table">
            <a:tbl>
              <a:tblPr/>
              <a:tblGrid>
                <a:gridCol w="2398370"/>
                <a:gridCol w="1853286"/>
                <a:gridCol w="1199185"/>
              </a:tblGrid>
              <a:tr h="58801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Hyper-parameters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Val. ROC-AUC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Gradient boosting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depth 3, 40 iter.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Gradient boosting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depth 3, 80 iter.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trees, depth 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Gradient boosting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depth 5, 40 iter.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687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Gradient boosting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depth 5, 80 iter.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273800" y="3870961"/>
            <a:ext cx="56248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Uncertainty and decisions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371082" y="4203700"/>
            <a:ext cx="5519928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conformal prediction, α = 0.10, calibrated on the last training dates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engine: LowRisk / Monitor / InvestigatePriority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Leakage audit: 23 / 23 checks pass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metrics, model comparison and business insight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8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400" y="990600"/>
            <a:ext cx="732536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Next-pass stress prediction, test period Apr–Jun 2024 (48,747 rows)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560" y="1320799"/>
          <a:ext cx="7101840" cy="2524760"/>
        </p:xfrm>
        <a:graphic>
          <a:graphicData uri="http://schemas.openxmlformats.org/drawingml/2006/table">
            <a:tbl>
              <a:tblPr/>
              <a:tblGrid>
                <a:gridCol w="3266846"/>
                <a:gridCol w="1278331"/>
                <a:gridCol w="1278331"/>
                <a:gridCol w="1278331"/>
              </a:tblGrid>
              <a:tr h="54356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Accuracy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ROC-AUC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Recall (stressed)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rule (stressed now → next)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+ anomaly feature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0.497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 regression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Gradient boosting (primary)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Forest, original features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 class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06400" y="3934461"/>
            <a:ext cx="3505200" cy="924560"/>
          </a:xfrm>
          <a:prstGeom prst="roundRect">
            <a:avLst>
              <a:gd name="adj" fmla="val 6868"/>
            </a:avLst>
          </a:prstGeom>
          <a:solidFill>
            <a:srgbClr val="E8EFFA"/>
          </a:solidFill>
          <a:ln/>
        </p:spPr>
      </p:sp>
      <p:sp>
        <p:nvSpPr>
          <p:cNvPr id="13" name="Text 10"/>
          <p:cNvSpPr/>
          <p:nvPr/>
        </p:nvSpPr>
        <p:spPr>
          <a:xfrm>
            <a:off x="533400" y="4023364"/>
            <a:ext cx="334873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E3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/ 59 · 0 false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33400" y="4343400"/>
            <a:ext cx="334873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at-risk fields caught live by Kafka streaming; 0 alarms in 141 healthy (simulated)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013200" y="3934461"/>
            <a:ext cx="3505200" cy="924560"/>
          </a:xfrm>
          <a:prstGeom prst="roundRect">
            <a:avLst>
              <a:gd name="adj" fmla="val 6868"/>
            </a:avLst>
          </a:prstGeom>
          <a:solidFill>
            <a:srgbClr val="E8EFFA"/>
          </a:solidFill>
          <a:ln/>
        </p:spPr>
      </p:sp>
      <p:sp>
        <p:nvSpPr>
          <p:cNvPr id="16" name="Text 13"/>
          <p:cNvSpPr/>
          <p:nvPr/>
        </p:nvSpPr>
        <p:spPr>
          <a:xfrm>
            <a:off x="4140200" y="4023364"/>
            <a:ext cx="334873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E3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−54% / −22%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140200" y="4343400"/>
            <a:ext cx="334873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Kalman error with 15% outliers / 20% bias (+15% on clean data)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400" y="4960621"/>
            <a:ext cx="3505200" cy="924560"/>
          </a:xfrm>
          <a:prstGeom prst="roundRect">
            <a:avLst>
              <a:gd name="adj" fmla="val 6868"/>
            </a:avLst>
          </a:prstGeom>
          <a:solidFill>
            <a:srgbClr val="FDF0E3"/>
          </a:solidFill>
          <a:ln/>
        </p:spPr>
      </p:sp>
      <p:sp>
        <p:nvSpPr>
          <p:cNvPr id="19" name="Text 16"/>
          <p:cNvSpPr/>
          <p:nvPr/>
        </p:nvSpPr>
        <p:spPr>
          <a:xfrm>
            <a:off x="533400" y="5049521"/>
            <a:ext cx="334873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A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80.7% vs 90%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33400" y="5369564"/>
            <a:ext cx="334873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conformal coverage on test; drift breaks its assumption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013200" y="4960621"/>
            <a:ext cx="3505200" cy="924560"/>
          </a:xfrm>
          <a:prstGeom prst="roundRect">
            <a:avLst>
              <a:gd name="adj" fmla="val 6868"/>
            </a:avLst>
          </a:prstGeom>
          <a:solidFill>
            <a:srgbClr val="FDF0E3"/>
          </a:solidFill>
          <a:ln/>
        </p:spPr>
      </p:sp>
      <p:sp>
        <p:nvSpPr>
          <p:cNvPr id="22" name="Text 19"/>
          <p:cNvSpPr/>
          <p:nvPr/>
        </p:nvSpPr>
        <p:spPr>
          <a:xfrm>
            <a:off x="4140200" y="5049521"/>
            <a:ext cx="3348736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A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· 46% · 22%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4140200" y="5369564"/>
            <a:ext cx="334873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 really stressed when flagged Investigate · Monitor · LowRisk</a:t>
            </a:r>
            <a:endParaRPr lang="en-US" sz="1200" dirty="0"/>
          </a:p>
        </p:txBody>
      </p:sp>
      <p:pic>
        <p:nvPicPr>
          <p:cNvPr id="24" name="Image 0" descr="Hadoop MapReduce result: mean NDVI per tile per month, highest in October 2023, lowest in April 2024">    </p:cNvPr>
          <p:cNvPicPr>
            <a:picLocks noChangeAspect="1"/>
          </p:cNvPicPr>
          <p:nvPr/>
        </p:nvPicPr>
        <p:blipFill>
          <a:blip r:embed="rId1"/>
          <a:srcRect l="0" r="0" t="-37" b="-37"/>
          <a:stretch/>
        </p:blipFill>
        <p:spPr>
          <a:xfrm>
            <a:off x="7772400" y="990600"/>
            <a:ext cx="4013200" cy="2806700"/>
          </a:xfrm>
          <a:prstGeom prst="roundRect">
            <a:avLst>
              <a:gd name="adj" fmla="val 1357"/>
            </a:avLst>
          </a:prstGeom>
        </p:spPr>
      </p:pic>
      <p:sp>
        <p:nvSpPr>
          <p:cNvPr id="25" name="Text 21"/>
          <p:cNvSpPr/>
          <p:nvPr/>
        </p:nvSpPr>
        <p:spPr>
          <a:xfrm>
            <a:off x="7772400" y="3873500"/>
            <a:ext cx="4133596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MapReduce: mean NDVI per tile per month; green peaks in Oct 2023, dry-season low in Apr 2024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870444" y="4376421"/>
            <a:ext cx="4027932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5956" indent="-155956">
              <a:lnSpc>
                <a:spcPts val="1755"/>
              </a:lnSpc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Insight:</a:t>
            </a: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last pass’s stress is the strongest early warning</a:t>
            </a:r>
            <a:endParaRPr lang="en-US" sz="1300" dirty="0"/>
          </a:p>
          <a:p>
            <a:pPr algn="l" marL="155956" indent="-155956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sensors add same-day disease alerts</a:t>
            </a:r>
            <a:endParaRPr lang="en-US" sz="1300" dirty="0"/>
          </a:p>
          <a:p>
            <a:pPr algn="l" marL="155956" indent="-155956">
              <a:lnSpc>
                <a:spcPts val="1755"/>
              </a:lnSpc>
              <a:buSzPct val="100000"/>
              <a:buChar char="•"/>
            </a:pPr>
            <a:r>
              <a:rPr lang="en-US" sz="13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 + 4 training dates limit ML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Challenges, limitations, conclusion and future work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9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1117600"/>
            <a:ext cx="5650992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06882" y="1440179"/>
            <a:ext cx="5546090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JPEG2000 decoder rejected Sentinel files: wrote our own JP2 box parser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clashes on YARN: shaded the fat jar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8 cluster, JDK 17 build: compiled with -release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6000" y="1117600"/>
            <a:ext cx="5650992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193282" y="1440179"/>
            <a:ext cx="5546090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pipeline HDFS → Spark (Scala) → MapReduce → Spark ML → Kafka streaming, 14 stages, all SUCCESS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alerts within one 10-second batch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baselines show where ML still falls short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600" y="3726817"/>
            <a:ext cx="5650992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06882" y="4049396"/>
            <a:ext cx="5546090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ERA5 weather covers 2023 only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 and weather stop at 78°E (part of one tile)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simulated; 5 DataNodes on one laptop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96000" y="3726817"/>
            <a:ext cx="5650992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193282" y="4049396"/>
            <a:ext cx="5546090" cy="74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field sensors and a multi-machine cluster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weather and more satellite dates</a:t>
            </a:r>
            <a:endParaRPr lang="en-US" sz="1400" dirty="0"/>
          </a:p>
          <a:p>
            <a:pPr algn="l" marL="156718" indent="-156718">
              <a:lnSpc>
                <a:spcPts val="1890"/>
              </a:lnSpc>
              <a:buSzPct val="100000"/>
              <a:buChar char="•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Retrain as seasons drift; merge small HDFS files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620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02400"/>
            <a:ext cx="4064000" cy="355600"/>
          </a:xfrm>
          <a:prstGeom prst="rect">
            <a:avLst/>
          </a:prstGeom>
          <a:solidFill>
            <a:srgbClr val="1E3A78"/>
          </a:solidFill>
          <a:ln/>
        </p:spPr>
      </p:sp>
      <p:sp>
        <p:nvSpPr>
          <p:cNvPr id="4" name="Shape 2"/>
          <p:cNvSpPr/>
          <p:nvPr/>
        </p:nvSpPr>
        <p:spPr>
          <a:xfrm>
            <a:off x="4064000" y="6502400"/>
            <a:ext cx="4064000" cy="355600"/>
          </a:xfrm>
          <a:prstGeom prst="rect">
            <a:avLst/>
          </a:prstGeom>
          <a:solidFill>
            <a:srgbClr val="2A54A3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0" y="6502400"/>
            <a:ext cx="4064000" cy="355600"/>
          </a:xfrm>
          <a:prstGeom prst="rect">
            <a:avLst/>
          </a:prstGeom>
          <a:solidFill>
            <a:srgbClr val="3B6BC5"/>
          </a:solidFill>
          <a:ln/>
        </p:spPr>
      </p:sp>
      <p:sp>
        <p:nvSpPr>
          <p:cNvPr id="6" name="Text 4"/>
          <p:cNvSpPr/>
          <p:nvPr>
            <p:ph type="title"/>
          </p:nvPr>
        </p:nvSpPr>
        <p:spPr>
          <a:xfrm>
            <a:off x="406400" y="190500"/>
            <a:ext cx="11720576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and GitHub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-6096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(23AID302)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03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Agriculture Big Data Pipeline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67040" y="6578600"/>
            <a:ext cx="418592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Review · 10 / 10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5877" y="1117600"/>
            <a:ext cx="11238087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Copernicus.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Sentinel-2 MSI Level-2A products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Copernicus Data Space Ecosystem.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Hersbach et al.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ERA5 global reanalysis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Q. J. R. Meteorol. Soc., 2020.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Poggio et al.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SoilGrids 2.0: producing soil information for the globe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SOIL, 2021.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Zaharia et al.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Spark: a unified engine for big data processing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CACM, 2016.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Armbrust et al.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SQL: relational data processing in Spark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SIGMOD, 2015.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Dean, Ghemawat.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MapReduce: simplified data processing on large clusters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OSDI, 2004.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Kreps, Narkhede, Rao.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Kafka: a distributed messaging system for log processing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NetDB, 2011.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Welch, Bishop.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Introduction to the Kalman Filter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UNC TR 95-041.</a:t>
            </a:r>
            <a:endParaRPr lang="en-US" sz="1400" dirty="0"/>
          </a:p>
          <a:p>
            <a:pPr algn="l" marL="197723" indent="-197723">
              <a:lnSpc>
                <a:spcPts val="1960"/>
              </a:lnSpc>
              <a:buSzPct val="100000"/>
              <a:buFontTx/>
              <a:buAutoNum type="arabicPeriod" startAt="1"/>
            </a:pP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Angelopoulos, Bates. </a:t>
            </a:r>
            <a:r>
              <a:rPr lang="en-US" sz="1400" i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Gentle Introduction to Conformal Prediction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2021.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600" y="3561079"/>
            <a:ext cx="11301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</a:t>
            </a:r>
            <a:r>
              <a:rPr lang="en-US" sz="1400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u="sng" dirty="0">
                <a:solidFill>
                  <a:srgbClr val="1E1E1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github.com/chaitanyajayasurya-afk/Smart-Agriculture-with-Hadoop-Spark-and-kafka-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mart Agriculture Big Data — Final Review">
  <a:themeElements>
    <a:clrScheme name="Smart Agriculture Big Data — Final Review">
      <a:dk1>
        <a:srgbClr val="1E1E1E"/>
      </a:dk1>
      <a:lt1>
        <a:srgbClr val="FDFDFD"/>
      </a:lt1>
      <a:dk2>
        <a:srgbClr val="565656"/>
      </a:dk2>
      <a:lt2>
        <a:srgbClr val="E7E7E7"/>
      </a:lt2>
      <a:accent1>
        <a:srgbClr val="3B6BC5"/>
      </a:accent1>
      <a:accent2>
        <a:srgbClr val="1E3A78"/>
      </a:accent2>
      <a:accent3>
        <a:srgbClr val="2A54A3"/>
      </a:accent3>
      <a:accent4>
        <a:srgbClr val="8A4A0E"/>
      </a:accent4>
      <a:accent5>
        <a:srgbClr val="C26A12"/>
      </a:accent5>
      <a:accent6>
        <a:srgbClr val="1F7A6C"/>
      </a:accent6>
      <a:hlink>
        <a:srgbClr val="0563C1"/>
      </a:hlink>
      <a:folHlink>
        <a:srgbClr val="954F72"/>
      </a:folHlink>
    </a:clrScheme>
    <a:fontScheme name="Smart Agriculture Big Data — Final Revie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Agriculture Big Data — Final Review</dc:title>
  <dc:subject/>
  <dc:creator/>
  <cp:lastModifiedBy/>
  <cp:revision>1</cp:revision>
  <dcterms:created xsi:type="dcterms:W3CDTF">2026-10-21T15:47:58Z</dcterms:created>
  <dcterms:modified xsi:type="dcterms:W3CDTF">2026-10-21T15:47:58Z</dcterms:modified>
</cp:coreProperties>
</file>